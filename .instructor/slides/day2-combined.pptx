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2" r:id="rId5"/>
    <p:sldMasterId id="2147483743" r:id="rId6"/>
  </p:sldMasterIdLst>
  <p:notesMasterIdLst>
    <p:notesMasterId r:id="rId7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19"/>
    <p:sldId id="273" r:id="rId18"/>
    <p:sldId id="274" r:id="rId17"/>
    <p:sldId id="275" r:id="rId16"/>
    <p:sldId id="276" r:id="rId15"/>
    <p:sldId id="277" r:id="rId14"/>
    <p:sldId id="278" r:id="rId13"/>
    <p:sldId id="279" r:id="rId12"/>
    <p:sldId id="280" r:id="rId11"/>
    <p:sldId id="281" r:id="rId10"/>
    <p:sldId id="282" r:id="rId9"/>
    <p:sldId id="283" r:id="rId8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302" r:id="rId66"/>
    <p:sldId id="303" r:id="rId67"/>
  </p:sldIdLst>
  <p:sldSz cy="5143500" cx="9144000"/>
  <p:notesSz cx="6858000" cy="9144000"/>
  <p:embeddedFontLst>
    <p:embeddedFont>
      <p:font typeface="Source Code Pro"/>
      <p:regular r:id="rId36"/>
      <p:bold r:id="rId37"/>
      <p:italic r:id="rId38"/>
      <p:boldItalic r:id="rId39"/>
    </p:embeddedFont>
    <p:embeddedFont>
      <p:font typeface="Source Sans 3"/>
      <p:regular r:id="rId40"/>
      <p:bold r:id="rId41"/>
      <p:italic r:id="rId42"/>
      <p:boldItalic r:id="rId43"/>
    </p:embeddedFont>
    <p:embeddedFont>
      <p:font typeface="Source Serif 4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092B0D-97BB-47E8-BBD6-F419BEF29DF6}">
  <a:tblStyle styleId="{92092B0D-97BB-47E8-BBD6-F419BEF29DF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8.xml"/><Relationship Id="rId9" Type="http://schemas.openxmlformats.org/officeDocument/2006/relationships/slide" Target="slides/slide27.xml"/><Relationship Id="rId10" Type="http://schemas.openxmlformats.org/officeDocument/2006/relationships/slide" Target="slides/slide26.xml"/><Relationship Id="rId11" Type="http://schemas.openxmlformats.org/officeDocument/2006/relationships/slide" Target="slides/slide25.xml"/><Relationship Id="rId12" Type="http://schemas.openxmlformats.org/officeDocument/2006/relationships/slide" Target="slides/slide24.xml"/><Relationship Id="rId13" Type="http://schemas.openxmlformats.org/officeDocument/2006/relationships/slide" Target="slides/slide23.xml"/><Relationship Id="rId14" Type="http://schemas.openxmlformats.org/officeDocument/2006/relationships/slide" Target="slides/slide22.xml"/><Relationship Id="rId15" Type="http://schemas.openxmlformats.org/officeDocument/2006/relationships/slide" Target="slides/slide21.xml"/><Relationship Id="rId16" Type="http://schemas.openxmlformats.org/officeDocument/2006/relationships/slide" Target="slides/slide20.xml"/><Relationship Id="rId17" Type="http://schemas.openxmlformats.org/officeDocument/2006/relationships/slide" Target="slides/slide19.xml"/><Relationship Id="rId18" Type="http://schemas.openxmlformats.org/officeDocument/2006/relationships/slide" Target="slides/slide18.xml"/><Relationship Id="rId19" Type="http://schemas.openxmlformats.org/officeDocument/2006/relationships/slide" Target="slides/slide17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font" Target="fonts/SourceCodePro-regular.fntdata"/><Relationship Id="rId37" Type="http://schemas.openxmlformats.org/officeDocument/2006/relationships/font" Target="fonts/SourceCodePro-bold.fntdata"/><Relationship Id="rId38" Type="http://schemas.openxmlformats.org/officeDocument/2006/relationships/font" Target="fonts/SourceCodePro-italic.fntdata"/><Relationship Id="rId39" Type="http://schemas.openxmlformats.org/officeDocument/2006/relationships/font" Target="fonts/SourceCodePro-boldItalic.fntdata"/><Relationship Id="rId40" Type="http://schemas.openxmlformats.org/officeDocument/2006/relationships/font" Target="fonts/SourceSans3-regular.fntdata"/><Relationship Id="rId41" Type="http://schemas.openxmlformats.org/officeDocument/2006/relationships/font" Target="fonts/SourceSans3-bold.fntdata"/><Relationship Id="rId42" Type="http://schemas.openxmlformats.org/officeDocument/2006/relationships/font" Target="fonts/SourceSans3-italic.fntdata"/><Relationship Id="rId43" Type="http://schemas.openxmlformats.org/officeDocument/2006/relationships/font" Target="fonts/SourceSans3-boldItalic.fntdata"/><Relationship Id="rId44" Type="http://schemas.openxmlformats.org/officeDocument/2006/relationships/font" Target="fonts/SourceSerif4-regular.fntdata"/><Relationship Id="rId45" Type="http://schemas.openxmlformats.org/officeDocument/2006/relationships/font" Target="fonts/SourceSerif4-bold.fntdata"/><Relationship Id="rId46" Type="http://schemas.openxmlformats.org/officeDocument/2006/relationships/font" Target="fonts/SourceSerif4-italic.fntdata"/><Relationship Id="rId47" Type="http://schemas.openxmlformats.org/officeDocument/2006/relationships/font" Target="fonts/SourceSerif4-boldItalic.fntdata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1" Type="http://schemas.openxmlformats.org/officeDocument/2006/relationships/slide" Target="slides/slide32.xml"/><Relationship Id="rId52" Type="http://schemas.openxmlformats.org/officeDocument/2006/relationships/slide" Target="slides/slide33.xml"/><Relationship Id="rId53" Type="http://schemas.openxmlformats.org/officeDocument/2006/relationships/slide" Target="slides/slide34.xml"/><Relationship Id="rId54" Type="http://schemas.openxmlformats.org/officeDocument/2006/relationships/slide" Target="slides/slide35.xml"/><Relationship Id="rId55" Type="http://schemas.openxmlformats.org/officeDocument/2006/relationships/slide" Target="slides/slide36.xml"/><Relationship Id="rId56" Type="http://schemas.openxmlformats.org/officeDocument/2006/relationships/slide" Target="slides/slide37.xml"/><Relationship Id="rId57" Type="http://schemas.openxmlformats.org/officeDocument/2006/relationships/slide" Target="slides/slide38.xml"/><Relationship Id="rId58" Type="http://schemas.openxmlformats.org/officeDocument/2006/relationships/slide" Target="slides/slide39.xml"/><Relationship Id="rId59" Type="http://schemas.openxmlformats.org/officeDocument/2006/relationships/slide" Target="slides/slide40.xml"/><Relationship Id="rId60" Type="http://schemas.openxmlformats.org/officeDocument/2006/relationships/slide" Target="slides/slide41.xml"/><Relationship Id="rId61" Type="http://schemas.openxmlformats.org/officeDocument/2006/relationships/slide" Target="slides/slide42.xml"/><Relationship Id="rId62" Type="http://schemas.openxmlformats.org/officeDocument/2006/relationships/slide" Target="slides/slide43.xml"/><Relationship Id="rId63" Type="http://schemas.openxmlformats.org/officeDocument/2006/relationships/slide" Target="slides/slide44.xml"/><Relationship Id="rId64" Type="http://schemas.openxmlformats.org/officeDocument/2006/relationships/slide" Target="slides/slide45.xml"/><Relationship Id="rId65" Type="http://schemas.openxmlformats.org/officeDocument/2006/relationships/slide" Target="slides/slide46.xml"/><Relationship Id="rId66" Type="http://schemas.openxmlformats.org/officeDocument/2006/relationships/slide" Target="slides/slide47.xml"/><Relationship Id="rId67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85800" y="2609850"/>
            <a:ext cx="662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800"/>
              <a:buNone/>
              <a:defRPr sz="2800">
                <a:solidFill>
                  <a:srgbClr val="8C151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274325" y="822947"/>
            <a:ext cx="274200" cy="15231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85800" y="722967"/>
            <a:ext cx="6629400" cy="17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705425" y="3657600"/>
            <a:ext cx="489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" name="Google Shape;16;p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4525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Source Serif 4"/>
              <a:buNone/>
              <a:defRPr sz="4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14525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Cardinal Red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7" name="Google Shape;27;p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" name="Google Shape;29;p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title slide">
  <p:cSld name="TITLE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306350" y="4056649"/>
            <a:ext cx="577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299599" y="3113024"/>
            <a:ext cx="57750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5"/>
          <p:cNvSpPr txBox="1"/>
          <p:nvPr>
            <p:ph idx="2" type="subTitle"/>
          </p:nvPr>
        </p:nvSpPr>
        <p:spPr>
          <a:xfrm>
            <a:off x="6074600" y="3333495"/>
            <a:ext cx="2681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/>
          <p:nvPr>
            <p:ph idx="3" type="pic"/>
          </p:nvPr>
        </p:nvSpPr>
        <p:spPr>
          <a:xfrm>
            <a:off x="228600" y="223150"/>
            <a:ext cx="8686800" cy="2514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5" name="Google Shape;35;p5"/>
          <p:cNvCxnSpPr/>
          <p:nvPr/>
        </p:nvCxnSpPr>
        <p:spPr>
          <a:xfrm>
            <a:off x="371791" y="384027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" name="Google Shape;37;p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ource Serif 4"/>
              <a:buNone/>
              <a:defRPr sz="36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agunita">
  <p:cSld name="TITLE_AND_BODY_4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6" name="Google Shape;46;p7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7" name="Google Shape;47;p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48" name="Google Shape;4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" name="Google Shape;49;p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utumn Gingko">
  <p:cSld name="TITLE_AND_BODY_4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4" name="Google Shape;54;p8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5" name="Google Shape;55;p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rick">
  <p:cSld name="TITLE_AND_BODY_4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62" name="Google Shape;62;p9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ay">
  <p:cSld name="TITLE_AND_BODY_4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0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0" name="Google Shape;70;p10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1" name="Google Shape;71;p1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1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Poppy">
  <p:cSld name="TITLE_AND_BODY_4_1_1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8" name="Google Shape;78;p11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9" name="Google Shape;79;p1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80" name="Google Shape;8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Digital Blue">
  <p:cSld name="TITLE_AND_BODY_4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2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6" name="Google Shape;86;p12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87" name="Google Shape;87;p1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88" name="Google Shape;8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Cardinal Red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4" name="Google Shape;94;p1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95" name="Google Shape;9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Lagunita">
  <p:cSld name="TITLE_AND_TWO_COLUMNS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02" name="Google Shape;102;p14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3" name="Google Shape;103;p1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1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utumn Gingko">
  <p:cSld name="TITLE_AND_TWO_COLUMNS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15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11" name="Google Shape;111;p15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2" name="Google Shape;112;p1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13" name="Google Shape;11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rick">
  <p:cSld name="TITLE_AND_TWO_COLUMNS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1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0" name="Google Shape;120;p16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1" name="Google Shape;121;p1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22" name="Google Shape;12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ay">
  <p:cSld name="TITLE_AND_TWO_COLUMNS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1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29" name="Google Shape;129;p17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0" name="Google Shape;130;p1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31" name="Google Shape;13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Poppy">
  <p:cSld name="TITLE_AND_TWO_COLUMNS_1_1_1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1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38" name="Google Shape;138;p18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9" name="Google Shape;139;p1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40" name="Google Shape;14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1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Digital Blue">
  <p:cSld name="TITLE_AND_TWO_COLUMNS_1_1_1_1_1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1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47" name="Google Shape;147;p19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8" name="Google Shape;148;p1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49" name="Google Shape;14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" name="Google Shape;150;p1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Cardinal Red" type="titleOnly">
  <p:cSld name="TITLE_ONLY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53" name="Google Shape;153;p2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54" name="Google Shape;15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Lagunita">
  <p:cSld name="TITLE_ONLY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2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59" name="Google Shape;159;p21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0" name="Google Shape;160;p2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1" name="Google Shape;16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utumn Gingko">
  <p:cSld name="TITLE_ONLY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2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6" name="Google Shape;166;p22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67" name="Google Shape;167;p2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68" name="Google Shape;16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rick">
  <p:cSld name="TITLE_ONLY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23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4" name="Google Shape;174;p2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5" name="Google Shape;17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2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ay">
  <p:cSld name="TITLE_ONLY_1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2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1" name="Google Shape;181;p2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2" name="Google Shape;18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Poppy">
  <p:cSld name="TITLE_ONLY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25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87" name="Google Shape;187;p25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8" name="Google Shape;188;p2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89" name="Google Shape;18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Digital Blue">
  <p:cSld name="TITLE_ONLY_1_1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2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94" name="Google Shape;194;p26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95" name="Google Shape;195;p2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96" name="Google Shape;19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2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311700" y="1546950"/>
            <a:ext cx="38076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type="title"/>
          </p:nvPr>
        </p:nvSpPr>
        <p:spPr>
          <a:xfrm>
            <a:off x="311700" y="671394"/>
            <a:ext cx="380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01" name="Google Shape;201;p27"/>
          <p:cNvCxnSpPr/>
          <p:nvPr/>
        </p:nvCxnSpPr>
        <p:spPr>
          <a:xfrm>
            <a:off x="401902" y="13200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02" name="Google Shape;20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684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Cardinal">
  <p:cSld name="MAIN_POIN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Lagunita">
  <p:cSld name="MAIN_POINT_3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9" name="Google Shape;209;p29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utumn Gingko">
  <p:cSld name="MAIN_POINT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2" name="Google Shape;212;p30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rick">
  <p:cSld name="MAIN_POINT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5" name="Google Shape;215;p31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ay">
  <p:cSld name="MAIN_POINT_2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8" name="Google Shape;218;p32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Poppy">
  <p:cSld name="MAIN_POINT_2_1_1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1" name="Google Shape;221;p33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igital Blue">
  <p:cSld name="MAIN_POINT_2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4" name="Google Shape;224;p34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Lagunita">
  <p:cSld name="MAIN_POINT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7" name="Google Shape;227;p35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5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35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Autumn Gingko">
  <p:cSld name="MAIN_POINT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2" name="Google Shape;232;p36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36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rick">
  <p:cSld name="MAIN_POINT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7" name="Google Shape;237;p37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37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37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ay">
  <p:cSld name="MAIN_POINT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38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3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Poppy">
  <p:cSld name="MAIN_POINT_1_1_1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7" name="Google Shape;247;p39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39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9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Digital Blue">
  <p:cSld name="MAIN_POINT_1_1_1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2" name="Google Shape;252;p40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40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aption">
  <p:cSld name="CAPTION_ONLY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idx="1" type="body"/>
          </p:nvPr>
        </p:nvSpPr>
        <p:spPr>
          <a:xfrm>
            <a:off x="311700" y="4230575"/>
            <a:ext cx="870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257" name="Google Shape;257;p41"/>
          <p:cNvSpPr/>
          <p:nvPr>
            <p:ph idx="2" type="pic"/>
          </p:nvPr>
        </p:nvSpPr>
        <p:spPr>
          <a:xfrm>
            <a:off x="-25" y="0"/>
            <a:ext cx="9144000" cy="42027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8" name="Google Shape;258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4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erif 4"/>
              <a:buNone/>
              <a:defRPr sz="12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2" name="Google Shape;262;p42"/>
          <p:cNvSpPr txBox="1"/>
          <p:nvPr>
            <p:ph idx="1" type="subTitle"/>
          </p:nvPr>
        </p:nvSpPr>
        <p:spPr>
          <a:xfrm>
            <a:off x="311750" y="3152225"/>
            <a:ext cx="8520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4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RH footer" type="blank">
  <p:cSld name="BLANK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4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or presenters">
  <p:cSld name="BLANK_2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idx="1" type="subTitle"/>
          </p:nvPr>
        </p:nvSpPr>
        <p:spPr>
          <a:xfrm>
            <a:off x="45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4"/>
          <p:cNvSpPr/>
          <p:nvPr>
            <p:ph idx="2" type="pic"/>
          </p:nvPr>
        </p:nvSpPr>
        <p:spPr>
          <a:xfrm>
            <a:off x="146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44"/>
          <p:cNvSpPr txBox="1"/>
          <p:nvPr>
            <p:ph idx="3" type="subTitle"/>
          </p:nvPr>
        </p:nvSpPr>
        <p:spPr>
          <a:xfrm>
            <a:off x="498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4"/>
          <p:cNvSpPr/>
          <p:nvPr>
            <p:ph idx="4" type="pic"/>
          </p:nvPr>
        </p:nvSpPr>
        <p:spPr>
          <a:xfrm>
            <a:off x="599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44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74" name="Google Shape;274;p4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75" name="Google Shape;27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4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 or presenters">
  <p:cSld name="BLANK_2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idx="1" type="subTitle"/>
          </p:nvPr>
        </p:nvSpPr>
        <p:spPr>
          <a:xfrm>
            <a:off x="4078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5"/>
          <p:cNvSpPr/>
          <p:nvPr>
            <p:ph idx="2" type="pic"/>
          </p:nvPr>
        </p:nvSpPr>
        <p:spPr>
          <a:xfrm>
            <a:off x="8446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45"/>
          <p:cNvSpPr txBox="1"/>
          <p:nvPr>
            <p:ph idx="3" type="subTitle"/>
          </p:nvPr>
        </p:nvSpPr>
        <p:spPr>
          <a:xfrm>
            <a:off x="636840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5"/>
          <p:cNvSpPr/>
          <p:nvPr>
            <p:ph idx="4" type="pic"/>
          </p:nvPr>
        </p:nvSpPr>
        <p:spPr>
          <a:xfrm>
            <a:off x="680520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45"/>
          <p:cNvSpPr txBox="1"/>
          <p:nvPr>
            <p:ph idx="5" type="subTitle"/>
          </p:nvPr>
        </p:nvSpPr>
        <p:spPr>
          <a:xfrm>
            <a:off x="33721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5"/>
          <p:cNvSpPr/>
          <p:nvPr>
            <p:ph idx="6" type="pic"/>
          </p:nvPr>
        </p:nvSpPr>
        <p:spPr>
          <a:xfrm>
            <a:off x="38089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45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85" name="Google Shape;285;p4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86" name="Google Shape;286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4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points or presenters">
  <p:cSld name="BLANK_2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6"/>
          <p:cNvSpPr txBox="1"/>
          <p:nvPr>
            <p:ph idx="1" type="subTitle"/>
          </p:nvPr>
        </p:nvSpPr>
        <p:spPr>
          <a:xfrm>
            <a:off x="40785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6"/>
          <p:cNvSpPr/>
          <p:nvPr>
            <p:ph idx="2" type="pic"/>
          </p:nvPr>
        </p:nvSpPr>
        <p:spPr>
          <a:xfrm>
            <a:off x="79815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46"/>
          <p:cNvSpPr txBox="1"/>
          <p:nvPr>
            <p:ph idx="3" type="subTitle"/>
          </p:nvPr>
        </p:nvSpPr>
        <p:spPr>
          <a:xfrm>
            <a:off x="677460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6"/>
          <p:cNvSpPr/>
          <p:nvPr>
            <p:ph idx="4" type="pic"/>
          </p:nvPr>
        </p:nvSpPr>
        <p:spPr>
          <a:xfrm>
            <a:off x="716490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46"/>
          <p:cNvSpPr txBox="1"/>
          <p:nvPr>
            <p:ph idx="5" type="subTitle"/>
          </p:nvPr>
        </p:nvSpPr>
        <p:spPr>
          <a:xfrm>
            <a:off x="2524121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6"/>
          <p:cNvSpPr/>
          <p:nvPr>
            <p:ph idx="6" type="pic"/>
          </p:nvPr>
        </p:nvSpPr>
        <p:spPr>
          <a:xfrm>
            <a:off x="2914421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46"/>
          <p:cNvSpPr txBox="1"/>
          <p:nvPr>
            <p:ph idx="7" type="subTitle"/>
          </p:nvPr>
        </p:nvSpPr>
        <p:spPr>
          <a:xfrm>
            <a:off x="4642354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46"/>
          <p:cNvSpPr/>
          <p:nvPr>
            <p:ph idx="8" type="pic"/>
          </p:nvPr>
        </p:nvSpPr>
        <p:spPr>
          <a:xfrm>
            <a:off x="5032654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46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98" name="Google Shape;298;p4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299" name="Google Shape;29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4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Cardinal Red">
  <p:cSld name="TITLE_AND_BODY_3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Source Serif 4"/>
              <a:buNone/>
              <a:defRPr sz="48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4" name="Google Shape;304;p4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8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48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 type="secHead">
  <p:cSld name="SECTION_HEADER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314" name="Google Shape;314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5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Cardinal Red" type="titleOnly">
  <p:cSld name="TITLE_ONLY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18" name="Google Shape;318;p5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19" name="Google Shape;319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5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Cardinal">
  <p:cSld name="MAIN_POINT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2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3" name="Google Shape;323;p52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Cardinal Red" type="tx">
  <p:cSld name="TITLE_AND_BODY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6" name="Google Shape;326;p53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27" name="Google Shape;327;p5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28" name="Google Shape;32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5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4"/>
          <p:cNvSpPr txBox="1"/>
          <p:nvPr>
            <p:ph idx="1" type="subTitle"/>
          </p:nvPr>
        </p:nvSpPr>
        <p:spPr>
          <a:xfrm>
            <a:off x="685800" y="2609850"/>
            <a:ext cx="6629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2800"/>
              <a:buNone/>
              <a:defRPr sz="2800">
                <a:solidFill>
                  <a:srgbClr val="8C151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332" name="Google Shape;33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54"/>
          <p:cNvSpPr/>
          <p:nvPr/>
        </p:nvSpPr>
        <p:spPr>
          <a:xfrm>
            <a:off x="274325" y="822947"/>
            <a:ext cx="274200" cy="15231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54"/>
          <p:cNvSpPr txBox="1"/>
          <p:nvPr>
            <p:ph type="title"/>
          </p:nvPr>
        </p:nvSpPr>
        <p:spPr>
          <a:xfrm>
            <a:off x="685800" y="722967"/>
            <a:ext cx="6629400" cy="17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5" name="Google Shape;335;p54"/>
          <p:cNvSpPr txBox="1"/>
          <p:nvPr>
            <p:ph idx="2" type="subTitle"/>
          </p:nvPr>
        </p:nvSpPr>
        <p:spPr>
          <a:xfrm>
            <a:off x="705425" y="3657600"/>
            <a:ext cx="489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36" name="Google Shape;336;p5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title slide">
  <p:cSld name="TITLE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5"/>
          <p:cNvSpPr txBox="1"/>
          <p:nvPr>
            <p:ph idx="1" type="subTitle"/>
          </p:nvPr>
        </p:nvSpPr>
        <p:spPr>
          <a:xfrm>
            <a:off x="306350" y="4056649"/>
            <a:ext cx="577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39" name="Google Shape;339;p55"/>
          <p:cNvSpPr txBox="1"/>
          <p:nvPr>
            <p:ph type="title"/>
          </p:nvPr>
        </p:nvSpPr>
        <p:spPr>
          <a:xfrm>
            <a:off x="299599" y="3113024"/>
            <a:ext cx="57750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0" name="Google Shape;340;p55"/>
          <p:cNvSpPr txBox="1"/>
          <p:nvPr>
            <p:ph idx="2" type="subTitle"/>
          </p:nvPr>
        </p:nvSpPr>
        <p:spPr>
          <a:xfrm>
            <a:off x="6074600" y="3333495"/>
            <a:ext cx="2681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5"/>
          <p:cNvSpPr/>
          <p:nvPr>
            <p:ph idx="3" type="pic"/>
          </p:nvPr>
        </p:nvSpPr>
        <p:spPr>
          <a:xfrm>
            <a:off x="228600" y="223150"/>
            <a:ext cx="8686800" cy="2514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42" name="Google Shape;342;p55"/>
          <p:cNvCxnSpPr/>
          <p:nvPr/>
        </p:nvCxnSpPr>
        <p:spPr>
          <a:xfrm>
            <a:off x="371791" y="384027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43" name="Google Shape;343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4" name="Google Shape;344;p5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Lagunita">
  <p:cSld name="TITLE_AND_BODY_4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6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7" name="Google Shape;347;p56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8" name="Google Shape;348;p5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6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0" name="Google Shape;350;p5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51" name="Google Shape;351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" name="Google Shape;352;p5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utumn Gingko">
  <p:cSld name="TITLE_AND_BODY_4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7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57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6" name="Google Shape;356;p5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7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58" name="Google Shape;358;p5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59" name="Google Shape;359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0" name="Google Shape;360;p5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rick">
  <p:cSld name="TITLE_AND_BODY_4_1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3" name="Google Shape;363;p58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4" name="Google Shape;364;p5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66" name="Google Shape;366;p5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67" name="Google Shape;367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" name="Google Shape;368;p5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Bay">
  <p:cSld name="TITLE_AND_BODY_4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9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1" name="Google Shape;371;p59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2" name="Google Shape;372;p5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9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74" name="Google Shape;374;p5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75" name="Google Shape;375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5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Poppy">
  <p:cSld name="TITLE_AND_BODY_4_1_1_1_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0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9" name="Google Shape;379;p60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0" name="Google Shape;380;p60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0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82" name="Google Shape;382;p6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83" name="Google Shape;383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4" name="Google Shape;384;p6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Digital Blue">
  <p:cSld name="TITLE_AND_BODY_4_1_1_1_1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1"/>
          <p:cNvSpPr txBox="1"/>
          <p:nvPr>
            <p:ph type="title"/>
          </p:nvPr>
        </p:nvSpPr>
        <p:spPr>
          <a:xfrm>
            <a:off x="311700" y="244516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61"/>
          <p:cNvSpPr txBox="1"/>
          <p:nvPr>
            <p:ph idx="1" type="body"/>
          </p:nvPr>
        </p:nvSpPr>
        <p:spPr>
          <a:xfrm>
            <a:off x="310896" y="11430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8" name="Google Shape;388;p6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1"/>
          <p:cNvSpPr txBox="1"/>
          <p:nvPr>
            <p:ph idx="2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90" name="Google Shape;390;p6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91" name="Google Shape;391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2" name="Google Shape;392;p6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Cardinal Red" type="twoColTx">
  <p:cSld name="TITLE_AND_TWO_COLUMNS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2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5" name="Google Shape;395;p62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62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97" name="Google Shape;397;p6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398" name="Google Shape;398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6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Lagunita">
  <p:cSld name="TITLE_AND_TWO_COLUMNS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3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63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3" name="Google Shape;403;p63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4" name="Google Shape;404;p63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63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6" name="Google Shape;406;p6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07" name="Google Shape;407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8" name="Google Shape;408;p6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utumn Gingko">
  <p:cSld name="TITLE_AND_TWO_COLUMNS_1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1" name="Google Shape;411;p64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2" name="Google Shape;412;p64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3" name="Google Shape;413;p6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4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15" name="Google Shape;415;p6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16" name="Google Shape;41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p6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rick">
  <p:cSld name="TITLE_AND_TWO_COLUMNS_1_1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5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0" name="Google Shape;420;p65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1" name="Google Shape;421;p65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2" name="Google Shape;422;p65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65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24" name="Google Shape;424;p65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25" name="Google Shape;425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6" name="Google Shape;426;p6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Bay">
  <p:cSld name="TITLE_AND_TWO_COLUMNS_1_1_1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6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9" name="Google Shape;429;p66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0" name="Google Shape;430;p66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1" name="Google Shape;431;p66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6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33" name="Google Shape;433;p66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34" name="Google Shape;434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5" name="Google Shape;435;p66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Poppy">
  <p:cSld name="TITLE_AND_TWO_COLUMNS_1_1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7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8" name="Google Shape;438;p67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67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0" name="Google Shape;440;p67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67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42" name="Google Shape;442;p67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43" name="Google Shape;44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4" name="Google Shape;444;p67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Digital Blue">
  <p:cSld name="TITLE_AND_TWO_COLUMNS_1_1_1_1_1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8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7" name="Google Shape;447;p68"/>
          <p:cNvSpPr txBox="1"/>
          <p:nvPr>
            <p:ph idx="1" type="body"/>
          </p:nvPr>
        </p:nvSpPr>
        <p:spPr>
          <a:xfrm>
            <a:off x="3117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8" name="Google Shape;448;p68"/>
          <p:cNvSpPr txBox="1"/>
          <p:nvPr>
            <p:ph idx="2" type="body"/>
          </p:nvPr>
        </p:nvSpPr>
        <p:spPr>
          <a:xfrm>
            <a:off x="4832400" y="11430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9" name="Google Shape;449;p68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8"/>
          <p:cNvSpPr txBox="1"/>
          <p:nvPr>
            <p:ph idx="3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51" name="Google Shape;451;p68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52" name="Google Shape;452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p6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Lagunita">
  <p:cSld name="TITLE_ONLY_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9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6" name="Google Shape;456;p69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9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58" name="Google Shape;458;p69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59" name="Google Shape;459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6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utumn Gingko">
  <p:cSld name="TITLE_ONLY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0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70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70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65" name="Google Shape;465;p70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66" name="Google Shape;466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7" name="Google Shape;467;p7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rick">
  <p:cSld name="TITLE_ONLY_1_1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1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0" name="Google Shape;470;p71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71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72" name="Google Shape;472;p71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73" name="Google Shape;473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4" name="Google Shape;474;p7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ay">
  <p:cSld name="TITLE_ONLY_1_1_1_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2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7" name="Google Shape;477;p72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72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79" name="Google Shape;479;p7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80" name="Google Shape;480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1" name="Google Shape;481;p7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Poppy">
  <p:cSld name="TITLE_ONLY_1_1_1_1_1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3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4" name="Google Shape;484;p73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73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86" name="Google Shape;486;p7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87" name="Google Shape;487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p7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Digital Blue">
  <p:cSld name="TITLE_ONLY_1_1_1_1_1_1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4"/>
          <p:cNvSpPr txBox="1"/>
          <p:nvPr>
            <p:ph type="title"/>
          </p:nvPr>
        </p:nvSpPr>
        <p:spPr>
          <a:xfrm>
            <a:off x="311700" y="244522"/>
            <a:ext cx="745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74"/>
          <p:cNvSpPr/>
          <p:nvPr/>
        </p:nvSpPr>
        <p:spPr>
          <a:xfrm>
            <a:off x="7909560" y="277400"/>
            <a:ext cx="1371600" cy="4572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74"/>
          <p:cNvSpPr txBox="1"/>
          <p:nvPr>
            <p:ph idx="1" type="subTitle"/>
          </p:nvPr>
        </p:nvSpPr>
        <p:spPr>
          <a:xfrm>
            <a:off x="7900416" y="319671"/>
            <a:ext cx="1243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93" name="Google Shape;493;p7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494" name="Google Shape;494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5" name="Google Shape;495;p7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5"/>
          <p:cNvSpPr txBox="1"/>
          <p:nvPr>
            <p:ph idx="1" type="body"/>
          </p:nvPr>
        </p:nvSpPr>
        <p:spPr>
          <a:xfrm>
            <a:off x="311700" y="1546950"/>
            <a:ext cx="38076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8" name="Google Shape;498;p75"/>
          <p:cNvSpPr txBox="1"/>
          <p:nvPr>
            <p:ph type="title"/>
          </p:nvPr>
        </p:nvSpPr>
        <p:spPr>
          <a:xfrm>
            <a:off x="311700" y="671394"/>
            <a:ext cx="380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99" name="Google Shape;499;p75"/>
          <p:cNvCxnSpPr/>
          <p:nvPr/>
        </p:nvCxnSpPr>
        <p:spPr>
          <a:xfrm>
            <a:off x="401902" y="13200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500" name="Google Shape;500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" name="Google Shape;501;p75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684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Lagunita">
  <p:cSld name="MAIN_POINT_3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6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4" name="Google Shape;504;p7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utumn Gingko">
  <p:cSld name="MAIN_POINT_2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7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7" name="Google Shape;507;p77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rick">
  <p:cSld name="MAIN_POINT_2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8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0" name="Google Shape;510;p78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ay">
  <p:cSld name="MAIN_POINT_2_1_1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9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3" name="Google Shape;513;p79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Poppy">
  <p:cSld name="MAIN_POINT_2_1_1_1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0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6" name="Google Shape;516;p80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igital Blue">
  <p:cSld name="MAIN_POINT_2_1_1_1_1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1"/>
          <p:cNvSpPr txBox="1"/>
          <p:nvPr>
            <p:ph type="title"/>
          </p:nvPr>
        </p:nvSpPr>
        <p:spPr>
          <a:xfrm>
            <a:off x="685800" y="457200"/>
            <a:ext cx="5715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9" name="Google Shape;519;p81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Lagunita">
  <p:cSld name="MAIN_POINT_1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2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2" name="Google Shape;522;p82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6C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82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82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Autumn Gingko">
  <p:cSld name="MAIN_POINT_1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3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7" name="Google Shape;527;p83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83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29" name="Google Shape;529;p83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F1AD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rick">
  <p:cSld name="MAIN_POINT_1_1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84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2" name="Google Shape;532;p84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84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4" name="Google Shape;534;p84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7F2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Bay">
  <p:cSld name="MAIN_POINT_1_1_1_1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85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7" name="Google Shape;537;p85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85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85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4178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Poppy">
  <p:cSld name="MAIN_POINT_1_1_1_1_1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6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2" name="Google Shape;542;p86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86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8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D166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Digital Blue">
  <p:cSld name="MAIN_POINT_1_1_1_1_1_1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7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7" name="Google Shape;547;p87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87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87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0054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88"/>
          <p:cNvSpPr txBox="1"/>
          <p:nvPr>
            <p:ph type="title"/>
          </p:nvPr>
        </p:nvSpPr>
        <p:spPr>
          <a:xfrm>
            <a:off x="314525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None/>
              <a:defRPr sz="4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53" name="Google Shape;553;p88"/>
          <p:cNvSpPr txBox="1"/>
          <p:nvPr>
            <p:ph idx="1" type="subTitle"/>
          </p:nvPr>
        </p:nvSpPr>
        <p:spPr>
          <a:xfrm>
            <a:off x="314525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4" name="Google Shape;554;p8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555" name="Google Shape;555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6" name="Google Shape;556;p88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caption">
  <p:cSld name="CAPTION_ONLY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9"/>
          <p:cNvSpPr txBox="1"/>
          <p:nvPr>
            <p:ph idx="1" type="body"/>
          </p:nvPr>
        </p:nvSpPr>
        <p:spPr>
          <a:xfrm>
            <a:off x="311700" y="4230575"/>
            <a:ext cx="870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559" name="Google Shape;559;p89"/>
          <p:cNvSpPr/>
          <p:nvPr>
            <p:ph idx="2" type="pic"/>
          </p:nvPr>
        </p:nvSpPr>
        <p:spPr>
          <a:xfrm>
            <a:off x="-25" y="0"/>
            <a:ext cx="9144000" cy="4202700"/>
          </a:xfrm>
          <a:prstGeom prst="rect">
            <a:avLst/>
          </a:prstGeom>
          <a:noFill/>
          <a:ln>
            <a:noFill/>
          </a:ln>
        </p:spPr>
      </p:sp>
      <p:pic>
        <p:nvPicPr>
          <p:cNvPr id="560" name="Google Shape;560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1" name="Google Shape;561;p89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Arial"/>
              <a:buNone/>
              <a:defRPr sz="12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4" name="Google Shape;564;p90"/>
          <p:cNvSpPr txBox="1"/>
          <p:nvPr>
            <p:ph idx="1" type="subTitle"/>
          </p:nvPr>
        </p:nvSpPr>
        <p:spPr>
          <a:xfrm>
            <a:off x="311750" y="3152225"/>
            <a:ext cx="8520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5" name="Google Shape;565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90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RH footer" type="blank">
  <p:cSld name="BLANK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9" name="Google Shape;569;p91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oints or presenters">
  <p:cSld name="BLANK_2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2"/>
          <p:cNvSpPr txBox="1"/>
          <p:nvPr>
            <p:ph idx="1" type="subTitle"/>
          </p:nvPr>
        </p:nvSpPr>
        <p:spPr>
          <a:xfrm>
            <a:off x="45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92"/>
          <p:cNvSpPr/>
          <p:nvPr>
            <p:ph idx="2" type="pic"/>
          </p:nvPr>
        </p:nvSpPr>
        <p:spPr>
          <a:xfrm>
            <a:off x="146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92"/>
          <p:cNvSpPr txBox="1"/>
          <p:nvPr>
            <p:ph idx="3" type="subTitle"/>
          </p:nvPr>
        </p:nvSpPr>
        <p:spPr>
          <a:xfrm>
            <a:off x="4985108" y="3436116"/>
            <a:ext cx="3703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92"/>
          <p:cNvSpPr/>
          <p:nvPr>
            <p:ph idx="4" type="pic"/>
          </p:nvPr>
        </p:nvSpPr>
        <p:spPr>
          <a:xfrm>
            <a:off x="5996108" y="1545675"/>
            <a:ext cx="1681800" cy="16818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92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76" name="Google Shape;576;p92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577" name="Google Shape;577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8" name="Google Shape;578;p92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oints or presenters">
  <p:cSld name="BLANK_2_1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3"/>
          <p:cNvSpPr txBox="1"/>
          <p:nvPr>
            <p:ph idx="1" type="subTitle"/>
          </p:nvPr>
        </p:nvSpPr>
        <p:spPr>
          <a:xfrm>
            <a:off x="4078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1" name="Google Shape;581;p93"/>
          <p:cNvSpPr/>
          <p:nvPr>
            <p:ph idx="2" type="pic"/>
          </p:nvPr>
        </p:nvSpPr>
        <p:spPr>
          <a:xfrm>
            <a:off x="8446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93"/>
          <p:cNvSpPr txBox="1"/>
          <p:nvPr>
            <p:ph idx="3" type="subTitle"/>
          </p:nvPr>
        </p:nvSpPr>
        <p:spPr>
          <a:xfrm>
            <a:off x="636840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93"/>
          <p:cNvSpPr/>
          <p:nvPr>
            <p:ph idx="4" type="pic"/>
          </p:nvPr>
        </p:nvSpPr>
        <p:spPr>
          <a:xfrm>
            <a:off x="680520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93"/>
          <p:cNvSpPr txBox="1"/>
          <p:nvPr>
            <p:ph idx="5" type="subTitle"/>
          </p:nvPr>
        </p:nvSpPr>
        <p:spPr>
          <a:xfrm>
            <a:off x="3372150" y="3261092"/>
            <a:ext cx="239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93"/>
          <p:cNvSpPr/>
          <p:nvPr>
            <p:ph idx="6" type="pic"/>
          </p:nvPr>
        </p:nvSpPr>
        <p:spPr>
          <a:xfrm>
            <a:off x="3808950" y="1545675"/>
            <a:ext cx="1526100" cy="15261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93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87" name="Google Shape;587;p93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588" name="Google Shape;588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9" name="Google Shape;589;p93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points or presenters">
  <p:cSld name="BLANK_2_1_1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94"/>
          <p:cNvSpPr txBox="1"/>
          <p:nvPr>
            <p:ph idx="1" type="subTitle"/>
          </p:nvPr>
        </p:nvSpPr>
        <p:spPr>
          <a:xfrm>
            <a:off x="40785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94"/>
          <p:cNvSpPr/>
          <p:nvPr>
            <p:ph idx="2" type="pic"/>
          </p:nvPr>
        </p:nvSpPr>
        <p:spPr>
          <a:xfrm>
            <a:off x="79815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94"/>
          <p:cNvSpPr txBox="1"/>
          <p:nvPr>
            <p:ph idx="3" type="subTitle"/>
          </p:nvPr>
        </p:nvSpPr>
        <p:spPr>
          <a:xfrm>
            <a:off x="6774600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94"/>
          <p:cNvSpPr/>
          <p:nvPr>
            <p:ph idx="4" type="pic"/>
          </p:nvPr>
        </p:nvSpPr>
        <p:spPr>
          <a:xfrm>
            <a:off x="7164900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94"/>
          <p:cNvSpPr txBox="1"/>
          <p:nvPr>
            <p:ph idx="5" type="subTitle"/>
          </p:nvPr>
        </p:nvSpPr>
        <p:spPr>
          <a:xfrm>
            <a:off x="2524121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94"/>
          <p:cNvSpPr/>
          <p:nvPr>
            <p:ph idx="6" type="pic"/>
          </p:nvPr>
        </p:nvSpPr>
        <p:spPr>
          <a:xfrm>
            <a:off x="2914421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94"/>
          <p:cNvSpPr txBox="1"/>
          <p:nvPr>
            <p:ph idx="7" type="subTitle"/>
          </p:nvPr>
        </p:nvSpPr>
        <p:spPr>
          <a:xfrm>
            <a:off x="4642354" y="3108700"/>
            <a:ext cx="19935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94"/>
          <p:cNvSpPr/>
          <p:nvPr>
            <p:ph idx="8" type="pic"/>
          </p:nvPr>
        </p:nvSpPr>
        <p:spPr>
          <a:xfrm>
            <a:off x="5032654" y="1706475"/>
            <a:ext cx="1212900" cy="1212900"/>
          </a:xfrm>
          <a:prstGeom prst="ellipse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94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00" name="Google Shape;600;p94"/>
          <p:cNvCxnSpPr/>
          <p:nvPr/>
        </p:nvCxnSpPr>
        <p:spPr>
          <a:xfrm>
            <a:off x="401902" y="902563"/>
            <a:ext cx="2025600" cy="0"/>
          </a:xfrm>
          <a:prstGeom prst="straightConnector1">
            <a:avLst/>
          </a:prstGeom>
          <a:noFill/>
          <a:ln cap="flat" cmpd="sng" w="88900">
            <a:solidFill>
              <a:srgbClr val="A4001D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601" name="Google Shape;601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1025" y="4663224"/>
            <a:ext cx="1681751" cy="28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2" name="Google Shape;602;p94"/>
          <p:cNvCxnSpPr/>
          <p:nvPr/>
        </p:nvCxnSpPr>
        <p:spPr>
          <a:xfrm>
            <a:off x="275550" y="4810236"/>
            <a:ext cx="677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Two images - Cardinal Red">
  <p:cSld name="TITLE_AND_BODY_3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96"/>
          <p:cNvSpPr txBox="1"/>
          <p:nvPr>
            <p:ph type="title"/>
          </p:nvPr>
        </p:nvSpPr>
        <p:spPr>
          <a:xfrm>
            <a:off x="685800" y="457200"/>
            <a:ext cx="4343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Arial"/>
              <a:buNone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6" name="Google Shape;606;p96"/>
          <p:cNvSpPr/>
          <p:nvPr/>
        </p:nvSpPr>
        <p:spPr>
          <a:xfrm>
            <a:off x="274320" y="1341120"/>
            <a:ext cx="274200" cy="2286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96"/>
          <p:cNvSpPr/>
          <p:nvPr>
            <p:ph idx="2" type="pic"/>
          </p:nvPr>
        </p:nvSpPr>
        <p:spPr>
          <a:xfrm>
            <a:off x="5440680" y="182880"/>
            <a:ext cx="3474600" cy="23316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96"/>
          <p:cNvSpPr/>
          <p:nvPr>
            <p:ph idx="3" type="pic"/>
          </p:nvPr>
        </p:nvSpPr>
        <p:spPr>
          <a:xfrm>
            <a:off x="5440680" y="2651760"/>
            <a:ext cx="3474600" cy="233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44">
          <p15:clr>
            <a:srgbClr val="FA7B17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80.xml"/><Relationship Id="rId34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2.xml"/><Relationship Id="rId36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5.xml"/><Relationship Id="rId39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8.xml"/><Relationship Id="rId42" Type="http://schemas.openxmlformats.org/officeDocument/2006/relationships/slideLayout" Target="../slideLayouts/slideLayout89.xml"/><Relationship Id="rId43" Type="http://schemas.openxmlformats.org/officeDocument/2006/relationships/slideLayout" Target="../slideLayouts/slideLayout90.xml"/><Relationship Id="rId44" Type="http://schemas.openxmlformats.org/officeDocument/2006/relationships/slideLayout" Target="../slideLayouts/slideLayout91.xml"/><Relationship Id="rId45" Type="http://schemas.openxmlformats.org/officeDocument/2006/relationships/slideLayout" Target="../slideLayouts/slideLayout92.xml"/><Relationship Id="rId46" Type="http://schemas.openxmlformats.org/officeDocument/2006/relationships/slideLayout" Target="../slideLayouts/slideLayout93.xml"/><Relationship Id="rId47" Type="http://schemas.openxmlformats.org/officeDocument/2006/relationships/slideLayout" Target="../slideLayouts/slideLayout94.xml"/><Relationship Id="rId4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1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ans 3"/>
              <a:buNone/>
              <a:defRPr b="0" i="0" sz="2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05156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●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●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●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○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3"/>
              <a:buChar char="■"/>
              <a:defRPr b="0" i="0" sz="14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898400" y="338975"/>
            <a:ext cx="124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E46962"/>
          </p15:clr>
        </p15:guide>
        <p15:guide id="2" orient="horz" pos="405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>
            <p:ph type="title"/>
          </p:nvPr>
        </p:nvSpPr>
        <p:spPr>
          <a:xfrm>
            <a:off x="311700" y="2445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49"/>
          <p:cNvSpPr txBox="1"/>
          <p:nvPr>
            <p:ph idx="1" type="body"/>
          </p:nvPr>
        </p:nvSpPr>
        <p:spPr>
          <a:xfrm>
            <a:off x="311700" y="105156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49"/>
          <p:cNvSpPr txBox="1"/>
          <p:nvPr/>
        </p:nvSpPr>
        <p:spPr>
          <a:xfrm>
            <a:off x="7898400" y="338975"/>
            <a:ext cx="124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  <p:sldLayoutId id="2147483738" r:id="rId44"/>
    <p:sldLayoutId id="2147483739" r:id="rId45"/>
    <p:sldLayoutId id="2147483740" r:id="rId46"/>
    <p:sldLayoutId id="2147483741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E46962"/>
          </p15:clr>
        </p15:guide>
        <p15:guide id="2" orient="horz" pos="405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September 18,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/>
              <a:t>Day 2 · The Cluster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200" b="1">
                <a:latin typeface="Source Sans Pro"/>
              </a:rPr>
              <a:t>Alex Storer, Jeff Ott, Natalya Rapstine</a:t>
            </a:r>
          </a:p>
          <a:p>
            <a:pPr>
              <a:spcAft>
                <a:spcPts val="600"/>
              </a:spcAft>
            </a:pPr>
            <a:r>
              <a:rPr sz="1200" b="0">
                <a:latin typeface="Source Sans Pro"/>
              </a:rPr>
              <a:t>Data, Analytics, and Research Computing – GSB Research 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50" b="1">
                <a:latin typeface="Source Sans 3"/>
              </a:rPr>
              <a:t>Part 1 — The cluster, and why it has a queue</a:t>
            </a:r>
          </a:p>
          <a:p>
            <a:pPr>
              <a:spcAft>
                <a:spcPts val="600"/>
              </a:spcAft>
            </a:pPr>
            <a:r>
              <a:rPr sz="1450" b="0">
                <a:latin typeface="Source Sans 3"/>
              </a:rPr>
              <a:t>What is inside any computer, and what running a script actually means</a:t>
            </a:r>
          </a:p>
          <a:p>
            <a:pPr>
              <a:spcAft>
                <a:spcPts val="600"/>
              </a:spcAft>
            </a:pPr>
            <a:r>
              <a:rPr sz="1450" b="0">
                <a:latin typeface="Source Sans 3"/>
              </a:rPr>
              <a:t>How data moves: disk, RAM, CPU</a:t>
            </a:r>
          </a:p>
          <a:p>
            <a:pPr>
              <a:spcAft>
                <a:spcPts val="600"/>
              </a:spcAft>
            </a:pPr>
            <a:r>
              <a:rPr sz="1450" b="0">
                <a:latin typeface="Source Sans 3"/>
              </a:rPr>
              <a:t>What profiling is, and why we do it</a:t>
            </a:r>
          </a:p>
          <a:p>
            <a:pPr>
              <a:spcAft>
                <a:spcPts val="600"/>
              </a:spcAft>
            </a:pPr>
            <a:r>
              <a:rPr sz="1450" b="0">
                <a:latin typeface="Source Sans 3"/>
              </a:rPr>
              <a:t>The queue: interactive vs. batch, partitions, and reading a failed job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 b="1">
                <a:latin typeface="Source Sans 3"/>
              </a:rPr>
              <a:t>Part 2 — Doing many things at once</a:t>
            </a:r>
          </a:p>
          <a:p>
            <a:pPr>
              <a:spcAft>
                <a:spcPts val="600"/>
              </a:spcAft>
            </a:pPr>
            <a:r>
              <a:rPr sz="1450" b="0">
                <a:latin typeface="Source Sans 3"/>
              </a:rPr>
              <a:t>What parallelization is, and when it does nothing at all</a:t>
            </a:r>
          </a:p>
          <a:p>
            <a:pPr>
              <a:spcAft>
                <a:spcPts val="600"/>
              </a:spcAft>
            </a:pPr>
            <a:r>
              <a:rPr sz="1450" b="0">
                <a:latin typeface="Source Sans 3"/>
              </a:rPr>
              <a:t>The three shapes: more cores, more jobs, or both</a:t>
            </a:r>
          </a:p>
          <a:p>
            <a:pPr>
              <a:spcAft>
                <a:spcPts val="600"/>
              </a:spcAft>
            </a:pPr>
            <a:r>
              <a:rPr sz="1450" b="0">
                <a:latin typeface="Source Sans 3"/>
              </a:rPr>
              <a:t>What a Slurm array is</a:t>
            </a:r>
          </a:p>
          <a:p>
            <a:pPr>
              <a:spcAft>
                <a:spcPts val="600"/>
              </a:spcAft>
            </a:pPr>
            <a:r>
              <a:rPr sz="1450" b="0">
                <a:latin typeface="Source Sans 3"/>
              </a:rPr>
              <a:t>A look at the GPUs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 b="1">
                <a:latin typeface="Source Sans 3"/>
              </a:rPr>
              <a:t>A little lecture, a lot of lab. Two work blocks, self-paced.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Source Sans Pro"/>
              </a:rPr>
              <a:t>Part 1 · The cluster, and why it has a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250" y="2103120"/>
            <a:ext cx="128016" cy="566928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9:00–9:20 · concepts only, laptops closed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Source Sans Pro"/>
              </a:rPr>
              <a:t>What is inside any computer?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250" y="2103120"/>
            <a:ext cx="128016" cy="566928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Inside one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868680"/>
            <a:ext cx="8522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Four parts. Every machine you will run research code on has all four.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1874519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Source Sans Pro"/>
              </a:rPr>
              <a:t>CPU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the processor chip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463040"/>
            <a:ext cx="1874519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Source Sans Pro"/>
              </a:rPr>
              <a:t>Cores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independent workers inside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1874519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Source Sans Pro"/>
              </a:rPr>
              <a:t>RAM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holds what the CPU is using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463040"/>
            <a:ext cx="1874519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Source Sans Pro"/>
              </a:rPr>
              <a:t>Storage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where files live at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81838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I/O — moving data from storage into RAM and writing results back.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Almost always the slowest thing your script does.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Your script is just the sequence of steps the CPU follows to turn one into the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The same parts, in different amounts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868680"/>
            <a:ext cx="8522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What changes between environments is how much of each part you get.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298448"/>
          <a:ext cx="8522206" cy="12435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66663"/>
                <a:gridCol w="1966663"/>
                <a:gridCol w="2622217"/>
                <a:gridCol w="1966663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What you get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Your laptop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One Yen node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The cloud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CPU cores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a handful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up to 256 on yen1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as many as you rent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RAM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single-digit GB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250 GB to 3 TB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as much as you rent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Storage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your own disk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shared, ~1 PB, every node sees 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rented volumes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And what it is like to use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0896" y="1097280"/>
          <a:ext cx="8522206" cy="12435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28885"/>
                <a:gridCol w="1835552"/>
                <a:gridCol w="2491106"/>
                <a:gridCol w="1966663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/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Your laptop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One Yen node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The cloud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Who else is on 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nobody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everyone — it is contended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nobody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Close the lid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the work stops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it keeps running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it keeps running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What it costs you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nothing extra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nothing extra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per hour, used or idle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/>
              <a:t>For most GSB research, the Yens are the right answer.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06C80"/>
                </a:solidFill>
                <a:latin typeface="Source Sans 3"/>
              </a:rPr>
              <a:t>THE TAKEAWAY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7248"/>
            <a:ext cx="1325880" cy="0"/>
          </a:xfrm>
          <a:prstGeom prst="line">
            <a:avLst/>
          </a:prstGeom>
          <a:ln w="19050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331012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No per-hour cost, and the data stays on Stanford-managed infrastructure. The cloud earns its keep when you need something the Yens do not have — and you pay for it by the hour whether you are using it or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Source Sans Pro"/>
              </a:rPr>
              <a:t>Running a 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250" y="2103120"/>
            <a:ext cx="128016" cy="566928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What running a script actually means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1 · Load from disk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Python reads your script and your data files from storage.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2 · Into RAM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The data lands in memory, where the CPU can reach it quickly.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3 · The CPU works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Cores execute the steps in your script against what is in RAM.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4 · Save to disk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Results are written back to storage, so they survive the run.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Watch the first leg. Getting data from disk into RAM is the slow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How your data moves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868680"/>
            <a:ext cx="8522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Storage → RAM → CPU → back to storage.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783080"/>
            <a:ext cx="21031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Source Sans Pro"/>
              </a:rPr>
              <a:t>Storage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large, slow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783080"/>
            <a:ext cx="21031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Source Sans Pro"/>
              </a:rPr>
              <a:t>RAM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fast, limited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21031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Source Sans Pro"/>
              </a:rPr>
              <a:t>CPU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cores do the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2304288"/>
            <a:ext cx="594360" cy="0"/>
          </a:xfrm>
          <a:prstGeom prst="line">
            <a:avLst/>
          </a:prstGeom>
          <a:ln w="22225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34539" y="199339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6C80"/>
                </a:solidFill>
                <a:latin typeface="Source Sans 3"/>
              </a:rPr>
              <a:t>read — milliseconds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2304288"/>
            <a:ext cx="594360" cy="0"/>
          </a:xfrm>
          <a:prstGeom prst="line">
            <a:avLst/>
          </a:prstGeom>
          <a:ln w="22225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14900" y="199339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06C80"/>
                </a:solidFill>
                <a:latin typeface="Source Sans 3"/>
              </a:rPr>
              <a:t>nanoseconds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3246120"/>
            <a:ext cx="7863840" cy="0"/>
          </a:xfrm>
          <a:prstGeom prst="line">
            <a:avLst/>
          </a:prstGeom>
          <a:ln w="22225">
            <a:solidFill>
              <a:srgbClr val="5F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79" y="2935224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F6775"/>
                </a:solidFill>
                <a:latin typeface="Source Sans 3"/>
              </a:rPr>
              <a:t>write back — milliseconds again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5204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The two slow legs are both at the storage end. Once the data is close to the processor, the work itself is quick.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/>
              <a:t>Disk is about a million times farther away than RAM.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06C80"/>
                </a:solidFill>
                <a:latin typeface="Source Sans 3"/>
              </a:rPr>
              <a:t>THE TAKEAWAY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7248"/>
            <a:ext cx="1325880" cy="0"/>
          </a:xfrm>
          <a:prstGeom prst="line">
            <a:avLst/>
          </a:prstGeom>
          <a:ln w="19050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331012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Your CPU reaches data in RAM in nanoseconds; a disk read takes milliseconds. If your dataset does not fit in RAM all at once, your script keeps going back to disk in the middle of the computation — and that, far more often than a slow CPU, is what makes a job crawl.</a:t>
            </a:r>
          </a:p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Which is why knowing how much RAM your script needs matters.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Source Sans Pro"/>
              </a:rPr>
              <a:t>Profiling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250" y="2103120"/>
            <a:ext cx="128016" cy="566928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What is profiling?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Measuring what your code actually consumes as it runs — instead of guessing at it.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Time — how long you actually waited for it to finish.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Cores — how many workers it used at once.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RAM — how much memory it held while it ran.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Three numbers. They are the ones the scheduler will ask you for — and the ones you cannot answer by reading the code.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This works whether you wrote the script or someone handed it to you. In the work block you will do it to a script you have never seen.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Why do we profile?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Because on a cluster you have to declare what you need before the job runs.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Ask too little — the job dies.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It hits the ceiling you declared and gets killed. You queued, you waited, and you have nothing.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Ask too much — you wait, and you waste.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Harder to schedule, so you sit in the queue longer — and you hold capacity nobody else can use.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Measure first — right-sized.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You ask for roughly what you used. The job starts sooner, finishes, and leaves the rest of the cluster alone.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What you measure, and what tells you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0896" y="1097280"/>
          <a:ext cx="8522207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38692"/>
                <a:gridCol w="1763215"/>
                <a:gridCol w="382030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What you want to know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What tells you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What you read off it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How long it took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Code Pro"/>
                        </a:rPr>
                        <a:t>time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real — the clock time you waited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How many cores it used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Code Pro"/>
                        </a:rPr>
                        <a:t>userload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Cores — your whole footprint on the node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Which processes, how hard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Code Pro"/>
                        </a:rPr>
                        <a:t>htop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CPU% per process; over 100% means several cores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How much RAM it held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Code Pro"/>
                        </a:rPr>
                        <a:t>htop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RES — the real memory in use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10896" y="4059936"/>
            <a:ext cx="85222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1">
                <a:solidFill>
                  <a:srgbClr val="5F6775"/>
                </a:solidFill>
                <a:latin typeface="Source Sans 3"/>
              </a:rPr>
              <a:t>Two terminals, same node.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F6775"/>
                </a:solidFill>
                <a:latin typeface="Source Sans 3"/>
              </a:rPr>
              <a:t>One runs the script, the other watches it. Both tools only see the machine they are on, so the second terminal has to be on the same Yen.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5F6775"/>
                </a:solidFill>
                <a:latin typeface="Source Sans 3"/>
              </a:rPr>
              <a:t>Small is not zero — a few MB on a 1 TB node rounds to 0.0%. Write down a small round number rather than nothing at all.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Two numbers tell you the shape of the job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350" b="1">
                <a:latin typeface="Source Sans 3"/>
              </a:rPr>
              <a:t>Compare the clock time against the CPU time and the script tells you what kind of thing it is.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1">
                <a:latin typeface="Source Sans 3"/>
              </a:rPr>
              <a:t>user ≈ real  →  Serial</a:t>
            </a:r>
          </a:p>
          <a:p>
            <a:pPr>
              <a:spcAft>
                <a:spcPts val="600"/>
              </a:spcAft>
            </a:pPr>
            <a:r>
              <a:rPr sz="1350" b="0">
                <a:latin typeface="Source Sans 3"/>
              </a:rPr>
              <a:t>One core at a time. More cores would not help it.</a:t>
            </a:r>
          </a:p>
          <a:p>
            <a:pPr>
              <a:spcAft>
                <a:spcPts val="600"/>
              </a:spcAft>
            </a:pPr>
            <a:r>
              <a:rPr sz="1350" b="1">
                <a:latin typeface="Source Sans 3"/>
              </a:rPr>
              <a:t>user &gt; real  →  Parallel</a:t>
            </a:r>
          </a:p>
          <a:p>
            <a:pPr>
              <a:spcAft>
                <a:spcPts val="600"/>
              </a:spcAft>
            </a:pPr>
            <a:r>
              <a:rPr sz="1350" b="0">
                <a:latin typeface="Source Sans 3"/>
              </a:rPr>
              <a:t>Several cores at once — CPU time adds up faster than the clock runs.</a:t>
            </a:r>
          </a:p>
          <a:p>
            <a:pPr>
              <a:spcAft>
                <a:spcPts val="600"/>
              </a:spcAft>
            </a:pPr>
            <a:r>
              <a:rPr sz="1350" b="1">
                <a:latin typeface="Source Sans 3"/>
              </a:rPr>
              <a:t>real ≫ user  →  Waiting, or I/O-bound</a:t>
            </a:r>
          </a:p>
          <a:p>
            <a:pPr>
              <a:spcAft>
                <a:spcPts val="600"/>
              </a:spcAft>
            </a:pPr>
            <a:r>
              <a:rPr sz="1350" b="0">
                <a:latin typeface="Source Sans 3"/>
              </a:rPr>
              <a:t>Barely touching the CPU. It is waiting on something: a disk, a network, an API.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latin typeface="Source Sans 3"/>
              </a:rPr>
              <a:t>You will meet two of these before 10:30. The mystery script is CPU-bound; the extraction you wrote yesterday spends almost all its time waiting on the API.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Source Sans Pro"/>
              </a:rPr>
              <a:t>The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250" y="2103120"/>
            <a:ext cx="128016" cy="566928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What Slurm 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The thing that decides who gets which cores, and when.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Seventeen nodes, one shared file system, and everyone at the GSB doing research wants them at once. Slurm is the queue that settles it.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The scarce resource is not a machine. It is core-minutes.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You are not asking for a computer — you are asking for a slice of cores for a span of time, and you have to say how much of each.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Nobody is watching you.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Once a job is submitted it runs whether you are at your desk or not. That is the point of handing it over.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Interactive, or handed to Slurm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The question is: are you sitting there while it runs?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Interactive — on a Yen, right now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You type, it answers. Good for finding out what your code does, and for anything you need to watch. You are sharing the node with everyone else logged in.</a:t>
            </a: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Batch — submitted to the queue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You declare what you need, hand it over, and walk away. Dedicated cores, and the job survives you closing your laptop.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So the rule is: explore interactively, execute in batch.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Partitions and limits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A partition is a named pool of machines, each with its own rules.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Different queues have different caps — on how long a job may run, how many cores it may take, how many tasks an array may hold.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The caps are a fairness mechanism, not bureaucracy.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They are what stops one person's thousand-task array from holding the cluster shut for everybody else.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Which partition you pick therefore decides what you are allowed to ask for. Check before you assume.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Debugging a job that failed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350" b="1">
                <a:latin typeface="Source Sans 3"/>
              </a:rPr>
              <a:t>A job that vanished is not a job that worked.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0">
                <a:latin typeface="Source Sans 3"/>
              </a:rPr>
              <a:t>When a batch job fails there is nobody watching and no traceback on your screen. The cluster writes down what went wrong and moves on — your job is to go and read it.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1">
                <a:latin typeface="Source Sans 3"/>
              </a:rPr>
              <a:t>Everything you need is in the .out and .err files.</a:t>
            </a:r>
          </a:p>
          <a:p>
            <a:pPr>
              <a:spcAft>
                <a:spcPts val="600"/>
              </a:spcAft>
            </a:pPr>
            <a:r>
              <a:rPr sz="1350" b="0">
                <a:latin typeface="Source Sans 3"/>
              </a:rPr>
              <a:t>If you do not know where those landed, you cannot debug anything.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50" b="1">
                <a:latin typeface="Source Sans 3"/>
              </a:rPr>
              <a:t>Why we practise it deliberately:</a:t>
            </a:r>
          </a:p>
          <a:p>
            <a:pPr>
              <a:spcAft>
                <a:spcPts val="600"/>
              </a:spcAft>
            </a:pPr>
            <a:r>
              <a:rPr sz="1350" b="0">
                <a:latin typeface="Source Sans 3"/>
              </a:rPr>
              <a:t>at a hundred tasks, failure stops being exceptional. Reading a failed job's .err is the first thing you will actually need, and the most often.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Today: one pipeline, five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868680"/>
            <a:ext cx="8522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Part 1 is steps 1 to 3. Part 2 is steps 4 and 5 — and it runs on the numbers you write down this morning.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74519"/>
            <a:ext cx="1481328" cy="960120"/>
          </a:xfrm>
          <a:prstGeom prst="roundRect">
            <a:avLst/>
          </a:prstGeom>
          <a:solidFill>
            <a:srgbClr val="F4F4F4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2937"/>
                </a:solidFill>
                <a:latin typeface="Source Sans Pro"/>
              </a:rPr>
              <a:t>1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profile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83664" y="2359152"/>
            <a:ext cx="118872" cy="0"/>
          </a:xfrm>
          <a:prstGeom prst="line">
            <a:avLst/>
          </a:prstGeom>
          <a:ln w="22225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39112" y="1874519"/>
            <a:ext cx="1481328" cy="960120"/>
          </a:xfrm>
          <a:prstGeom prst="roundRect">
            <a:avLst/>
          </a:prstGeom>
          <a:solidFill>
            <a:srgbClr val="F4F4F4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2937"/>
                </a:solidFill>
                <a:latin typeface="Source Sans Pro"/>
              </a:rPr>
              <a:t>2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submit to Slurm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57015" y="2359152"/>
            <a:ext cx="118872" cy="0"/>
          </a:xfrm>
          <a:prstGeom prst="line">
            <a:avLst/>
          </a:prstGeom>
          <a:ln w="22225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12464" y="1874519"/>
            <a:ext cx="1481328" cy="960120"/>
          </a:xfrm>
          <a:prstGeom prst="roundRect">
            <a:avLst/>
          </a:prstGeom>
          <a:solidFill>
            <a:srgbClr val="F4F4F4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2937"/>
                </a:solidFill>
                <a:latin typeface="Source Sans Pro"/>
              </a:rPr>
              <a:t>3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read logs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30368" y="2359152"/>
            <a:ext cx="118872" cy="0"/>
          </a:xfrm>
          <a:prstGeom prst="line">
            <a:avLst/>
          </a:prstGeom>
          <a:ln w="22225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85816" y="1874519"/>
            <a:ext cx="1481328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2937"/>
                </a:solidFill>
                <a:latin typeface="Source Sans Pro"/>
              </a:rPr>
              <a:t>4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document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03720" y="2359152"/>
            <a:ext cx="118872" cy="0"/>
          </a:xfrm>
          <a:prstGeom prst="line">
            <a:avLst/>
          </a:prstGeom>
          <a:ln w="22225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59168" y="1874519"/>
            <a:ext cx="1481328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2937"/>
                </a:solidFill>
                <a:latin typeface="Source Sans Pro"/>
              </a:rPr>
              <a:t>5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scale (arrays)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54680"/>
            <a:ext cx="8183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Everything you type into a job script today comes from a number you measured.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There is nothing to learn from step four if you skipped step 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Source Sans Pro"/>
              </a:rPr>
              <a:t>Lab Time.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250" y="2103120"/>
            <a:ext cx="128016" cy="566928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Part 1 · 9:20–10:30 · work at your own pace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Your Goals — Part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Profile a script you have never seen — two terminals, same node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Profile the real extraction on 10 filings, and name it serial, parallel or I/O-bound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Write the Resource Profile into your README — the numbers everything else runs on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Peek at the queue, and tell a running job from a pending one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Write and submit a Slurm job, then find its output and error files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Debug a job that failed — the one skill you will need first, and often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Find the lab materials at: darc.stanford.edu/class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New to the terminal?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Getting through the profiling exercises is a good morning. Ask early — that is what we are here for.</a:t>
            </a:r>
          </a:p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Done already?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Check whether anyone at your table is stuck before you start the bonus material.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Checkpoint — Part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Everyone should have reached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Profiled the mystery script (two terminals)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Profiled the batch script on 10 filings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Resource Profile written into the README ← protect this one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Peeked at the queue: told R from PD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Written and submitted a Slurm job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Debugged a failed job from its .err ← matters most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Pages: /day2/profiling/ · /day2/slurm-scheduler/ · /day2/slurm-job/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Extra, if you are ahead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Watch a job on its node while it runs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An interactive job with srun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fix_me_2 and fix_me_3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Fix the broken one-file script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Chain two jobs with a dependency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The dev partition · vectorization · core counts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All bonus. None of it is the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315968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5F6775"/>
                </a:solidFill>
                <a:latin typeface="Source Sans 3"/>
              </a:rPr>
              <a:t>If you have not written the Resource Profile into your README, do that before anything in the right-hand column — Part 2 runs on those numbers.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Source Sans Pro"/>
              </a:rPr>
              <a:t>Part 2 · Doing many things at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250" y="2103120"/>
            <a:ext cx="128016" cy="566928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10:30–10:50 · concepts only, laptops closed again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The script you just ran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 b="1">
                <a:latin typeface="Source Sans 3"/>
              </a:rPr>
              <a:t>You already have a hundred separate jobs.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0">
                <a:latin typeface="Source Sans 3"/>
              </a:rPr>
              <a:t>No filing needs any other filing to be finished first. Running them one after another was a decision in your code — not something the problem asked for.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0">
                <a:latin typeface="Source Sans 3"/>
              </a:rPr>
              <a:t>So the rest of this is about undoing that decision.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Source Sans Pro"/>
              </a:rPr>
              <a:t>Parallelization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250" y="2103120"/>
            <a:ext cx="128016" cy="566928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What it is, when it helps, and when it does nothing.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What it is, and is not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50" b="1">
                <a:latin typeface="Source Sans 3"/>
              </a:rPr>
              <a:t>Running many copies of the same work at the same time.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 b="1">
                <a:latin typeface="Source Sans 3"/>
              </a:rPr>
              <a:t>It is not making one run faster.</a:t>
            </a:r>
          </a:p>
          <a:p>
            <a:pPr>
              <a:spcAft>
                <a:spcPts val="600"/>
              </a:spcAft>
            </a:pPr>
            <a:r>
              <a:rPr sz="1450" b="0">
                <a:latin typeface="Source Sans 3"/>
              </a:rPr>
              <a:t>Work that will not come apart still gets plenty from the cluster — a node to itself, far more memory, nobody competing for your cores, and the freedom to walk away. It just will not get this.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50" b="1">
                <a:latin typeface="Source Sans 3"/>
              </a:rPr>
              <a:t>The test is independence.</a:t>
            </a:r>
          </a:p>
          <a:p>
            <a:pPr>
              <a:spcAft>
                <a:spcPts val="600"/>
              </a:spcAft>
            </a:pPr>
            <a:r>
              <a:rPr sz="1450" b="0">
                <a:latin typeface="Source Sans 3"/>
              </a:rPr>
              <a:t>Could you hand each piece to a different person and never let them talk?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Why their job comes apart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Inside one filing, a chain. Across filings, nothing.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Inside a single filing the steps are strictly ordered: read from disk, send to the API, validate the reply, write the result. Four cores on one filing leaves three of them idle.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Across filings there is no ordering at all. Filing 2 does not care whether filing 1 is done. Each one is self-contained.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So the unit you parallelize is the filing, not the step.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/>
              <a:t>The part that will not split sets the floor.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06C80"/>
                </a:solidFill>
                <a:latin typeface="Source Sans 3"/>
              </a:rPr>
              <a:t>THE CEILING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7248"/>
            <a:ext cx="1325880" cy="0"/>
          </a:xfrm>
          <a:prstGeom prst="line">
            <a:avLst/>
          </a:prstGeom>
          <a:ln w="19050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331012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However many workers you add, you can only ever shrink the part that does split. Asking for more cores past that point buys you nothing but a longer wait in the queue.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Three from your own research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250" b="1">
                <a:latin typeface="Source Sans 3"/>
              </a:rPr>
              <a:t>Which of these come apart? Discussion — still no keyboards.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250" b="1">
                <a:latin typeface="Source Sans 3"/>
              </a:rPr>
              <a:t>1 · Sum every value in an array. Then sum an expensive function of every value.</a:t>
            </a:r>
          </a:p>
          <a:p>
            <a:pPr>
              <a:spcAft>
                <a:spcPts val="600"/>
              </a:spcAft>
            </a:pPr>
            <a:r>
              <a:rPr sz="1250" b="0">
                <a:latin typeface="Source Sans 3"/>
              </a:rPr>
              <a:t>Both split. Only one is worth it — adding numbers is so cheap that handing pieces out and collecting them back costs more than the work.</a:t>
            </a:r>
          </a:p>
          <a:p>
            <a:pPr>
              <a:spcAft>
                <a:spcPts val="600"/>
              </a:spcAft>
            </a:pPr>
            <a:r>
              <a:rPr sz="1250" b="1">
                <a:latin typeface="Source Sans 3"/>
              </a:rPr>
              <a:t>2 · Check a key is unique before you merge on it.</a:t>
            </a:r>
          </a:p>
          <a:p>
            <a:pPr>
              <a:spcAft>
                <a:spcPts val="600"/>
              </a:spcAft>
            </a:pPr>
            <a:r>
              <a:rPr sz="1250" b="0">
                <a:latin typeface="Source Sans 3"/>
              </a:rPr>
              <a:t>It splits, but not cleanly. Each worker checks its own chunk, but a duplicate can sit across a boundary — so you still need one step that looks at all of it.</a:t>
            </a:r>
          </a:p>
          <a:p>
            <a:pPr>
              <a:spcAft>
                <a:spcPts val="600"/>
              </a:spcAft>
            </a:pPr>
            <a:r>
              <a:rPr sz="1250" b="1">
                <a:latin typeface="Source Sans 3"/>
              </a:rPr>
              <a:t>3 · A hundred pages scraped, every one appending a row to the same CSV.</a:t>
            </a:r>
          </a:p>
          <a:p>
            <a:pPr>
              <a:spcAft>
                <a:spcPts val="600"/>
              </a:spcAft>
            </a:pPr>
            <a:r>
              <a:rPr sz="1250" b="0">
                <a:latin typeface="Source Sans 3"/>
              </a:rPr>
              <a:t>The scraping is independent. The writing is not. A hundred workers appending to one file interleave, and you get corrupted rows.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/>
              <a:t>Independent compute is easy. Shared state is where it breaks.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06C80"/>
                </a:solidFill>
                <a:latin typeface="Source Sans 3"/>
              </a:rPr>
              <a:t>THE PATTERN UNDER ALL THREE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7248"/>
            <a:ext cx="1325880" cy="0"/>
          </a:xfrm>
          <a:prstGeom prst="line">
            <a:avLst/>
          </a:prstGeom>
          <a:ln w="19050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331012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Write to separate places. Combine afterwards.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That single habit is what makes the difference between an array that works and one that quietly corrupts its own output.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Source Sans Pro"/>
              </a:rPr>
              <a:t>Arrays, and the alternatives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250" y="2103120"/>
            <a:ext cx="128016" cy="566928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One way to spread work out. Not the only one.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There are three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868680"/>
            <a:ext cx="8522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Where you started this morning was one job, one core: a loop.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0896" y="1298448"/>
          <a:ext cx="8522208" cy="12435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0552"/>
                <a:gridCol w="2929509"/>
                <a:gridCol w="3462147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Shape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What it is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What it costs you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One job, many cores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You split the work in your own code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Capped at one machine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Many jobs, one core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An array — Slurm hands out many small jobs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Scales past one machine; one failure costs one task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Both at once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Several jobs, each using several cores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Most throughput, biggest request, longest wait to start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What each shape actually costs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0896" y="1097280"/>
          <a:ext cx="8522206" cy="9326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0552"/>
                <a:gridCol w="3195827"/>
                <a:gridCol w="3195827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Eight filings, five seconds each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One core per job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Many cores per job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One job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40s — this morning's loop, no speedup at 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20s — capped at one machine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1F2937"/>
                          </a:solidFill>
                          <a:latin typeface="Source Sans 3"/>
                        </a:rPr>
                        <a:t>Many jobs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20s — an array; scales past one machine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10s — most throughput, biggest ask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So what is an array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 b="1">
                <a:latin typeface="Source Sans 3"/>
              </a:rPr>
              <a:t>One script, submitted once, run many times over.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0">
                <a:latin typeface="Source Sans 3"/>
              </a:rPr>
              <a:t>Every task runs the identical script. Exactly one thing differs between them: a number saying which task this is.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1">
                <a:latin typeface="Source Sans 3"/>
              </a:rPr>
              <a:t>Which means nothing decides which filing each task takes.</a:t>
            </a:r>
          </a:p>
          <a:p>
            <a:pPr>
              <a:spcAft>
                <a:spcPts val="600"/>
              </a:spcAft>
            </a:pPr>
            <a:r>
              <a:rPr sz="1500" b="0">
                <a:latin typeface="Source Sans 3"/>
              </a:rPr>
              <a:t>That mapping is yours to write. Slurm hands you a number; turning that number into a filing is your code's job.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One script in, many tasks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868680"/>
            <a:ext cx="8522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You submit once. Slurm runs the same script many times, handing each copy a different number.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03120"/>
            <a:ext cx="1965960" cy="914400"/>
          </a:xfrm>
          <a:prstGeom prst="roundRect">
            <a:avLst/>
          </a:prstGeom>
          <a:solidFill>
            <a:srgbClr val="F4F4F4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Source Sans Pro"/>
              </a:rPr>
              <a:t>one script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submitted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25880"/>
            <a:ext cx="201168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Source Sans Pro"/>
              </a:rPr>
              <a:t>task 1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SLURM_ARRAY_TASK_ID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2560320"/>
            <a:ext cx="2103120" cy="0"/>
          </a:xfrm>
          <a:prstGeom prst="line">
            <a:avLst/>
          </a:prstGeom>
          <a:ln w="22225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754880" y="2148840"/>
            <a:ext cx="201168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Source Sans Pro"/>
              </a:rPr>
              <a:t>task 2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SLURM_ARRAY_TASK_ID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2560320"/>
            <a:ext cx="2103120" cy="0"/>
          </a:xfrm>
          <a:prstGeom prst="line">
            <a:avLst/>
          </a:prstGeom>
          <a:ln w="22225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54880" y="2971800"/>
            <a:ext cx="201168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Source Sans Pro"/>
              </a:rPr>
              <a:t>task 3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SLURM_ARRAY_TASK_ID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560320"/>
            <a:ext cx="2103120" cy="0"/>
          </a:xfrm>
          <a:prstGeom prst="line">
            <a:avLst/>
          </a:prstGeom>
          <a:ln w="22225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3794760"/>
            <a:ext cx="2011680" cy="6217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6C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Source Sans Pro"/>
              </a:rPr>
              <a:t>task N</a:t>
            </a:r>
          </a:p>
          <a:p>
            <a:pPr algn="ctr"/>
            <a:r>
              <a:rPr sz="1000">
                <a:solidFill>
                  <a:srgbClr val="5F6775"/>
                </a:solidFill>
                <a:latin typeface="Source Sans 3"/>
              </a:rPr>
              <a:t>SLURM_ARRAY_TASK_ID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2560320"/>
            <a:ext cx="2103120" cy="0"/>
          </a:xfrm>
          <a:prstGeom prst="line">
            <a:avLst/>
          </a:prstGeom>
          <a:ln w="22225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33832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latin typeface="Source Sans 3"/>
              </a:rPr>
              <a:t>Nothing decides which filing each task takes.</a:t>
            </a:r>
          </a:p>
          <a:p>
            <a:pPr>
              <a:spcAft>
                <a:spcPts val="600"/>
              </a:spcAft>
            </a:pPr>
            <a:r>
              <a:rPr sz="1250" b="0">
                <a:latin typeface="Source Sans 3"/>
              </a:rPr>
              <a:t>That mapping is yours to write.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Two things that will bite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You choose where the numbering starts. Then you live with it.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Start at zero and the task number is already a list position. Start at one and every lookup needs a − 1. Forget, and nothing complains — you silently skip the first one and run off the end.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An array is not unlimited.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On the normal partition the task numbers run to 511, and the ceiling differs by partition — so check before you assume. A job with more tasks than that has to be split into several arrays.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/>
              <a:t>Estimate, request, run, check.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06C80"/>
                </a:solidFill>
                <a:latin typeface="Source Sans 3"/>
              </a:rPr>
              <a:t>THE HABIT THAT OUTLASTS TODAY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7248"/>
            <a:ext cx="1325880" cy="0"/>
          </a:xfrm>
          <a:prstGeom prst="line">
            <a:avLst/>
          </a:prstGeom>
          <a:ln w="19050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331012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Write the estimate down before you submit anything. Turn it into a request. Run it. Then compare what it really used against what you guessed.</a:t>
            </a:r>
          </a:p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There is nothing to learn from step four if you skipped step one.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Source Sans Pro"/>
              </a:rPr>
              <a:t>A look at the GPUs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250" y="2103120"/>
            <a:ext cx="128016" cy="566928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Preview only. The bonus page has the rest.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Fourteen GPUs, in three tiers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0896" y="1097280"/>
          <a:ext cx="8522208" cy="12435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40736"/>
                <a:gridCol w="568147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GPU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Source Sans 3"/>
                        </a:rPr>
                        <a:t>Memory on the card</a:t>
                      </a:r>
                    </a:p>
                  </a:txBody>
                  <a:tcPr anchor="ctr" marL="73152" marR="73152" marT="27432" marB="27432">
                    <a:solidFill>
                      <a:srgbClr val="7F2D4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A30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24 GB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A40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48 GB</a:t>
                      </a:r>
                    </a:p>
                  </a:txBody>
                  <a:tcPr anchor="ctr" marL="73152" marR="73152" marT="27432" marB="27432">
                    <a:solidFill>
                      <a:srgbClr val="F4F4F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H200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80" b="0">
                          <a:solidFill>
                            <a:srgbClr val="1F2937"/>
                          </a:solidFill>
                          <a:latin typeface="Source Sans 3"/>
                        </a:rPr>
                        <a:t>141 GB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10896" y="4059936"/>
            <a:ext cx="85222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5F6775"/>
                </a:solidFill>
                <a:latin typeface="Source Sans 3"/>
              </a:rPr>
              <a:t>Fourteen in total, against hundreds of CPU cores per node. The scarcest thing on the cluster.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/>
              <a:t>A model that does not fit in GPU memory does not run slowly. It does not run.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006C80"/>
                </a:solidFill>
                <a:latin typeface="Source Sans 3"/>
              </a:rPr>
              <a:t>WHAT DECIDES WHAT YOU CAN RUN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7248"/>
            <a:ext cx="1325880" cy="0"/>
          </a:xfrm>
          <a:prstGeom prst="line">
            <a:avLst/>
          </a:prstGeom>
          <a:ln w="19050">
            <a:solidFill>
              <a:srgbClr val="00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331012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Most limits make things slower. This one is a cliff: the weights fit on the card, or the job will not start at all. VRAM is what decides which models you can load.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Would a GPU have helped this morning?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You already measured the answer. Remember what your two clocks said.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No — and not by a little.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A GPU makes arithmetic fast. Your job barely does any: it asks for a filing, waits, and writes the answer down. real ≫ user said so.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1">
                <a:latin typeface="Source Sans 3"/>
              </a:rPr>
              <a:t>Where they do earn their keep:</a:t>
            </a:r>
          </a:p>
          <a:p>
            <a:pPr>
              <a:spcAft>
                <a:spcPts val="600"/>
              </a:spcAft>
            </a:pPr>
            <a:r>
              <a:rPr sz="1400" b="0">
                <a:latin typeface="Source Sans 3"/>
              </a:rPr>
              <a:t>Training or fine-tuning a model · large matrix operations · running an LLM's weights yourself instead of calling someone else's API.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Source Sans Pro"/>
              </a:rPr>
              <a:t>Lab Time.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250" y="2103120"/>
            <a:ext cx="128016" cy="566928"/>
          </a:xfrm>
          <a:prstGeom prst="rect">
            <a:avLst/>
          </a:prstGeom>
          <a:solidFill>
            <a:srgbClr val="006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F6775"/>
                </a:solidFill>
                <a:latin typeface="Source Sans 3"/>
              </a:rPr>
              <a:t>Part 2 · 10:50–11:50 · hands on keyboards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Your Goals — Part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Run a hundred filings as an array, and watch it fan out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Make your tasks safe to run again — four lines, and reruns stop costing money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The capstone: estimate first, submit, then check against sacct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Find the lab materials at: darc.stanford.edu/class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Start from the array script that is already in the repo.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slurm/hello_array.slurm exists so that everyone sees fan-out work with their own eyes. Writing both array files from scratch is bonus, not the floor.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By 11:50 the estimate matters more than the run.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Committing to a number before you run it is the transferable discipline of the whole course.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150">
                <a:latin typeface="Source Sans Pro"/>
              </a:rPr>
              <a:t>Checkpoint — Part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Everyone should have reached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An array running from slurm/hello_array.slurm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Tasks made rerun-safe (idempotent)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Capstone: estimate written down first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Capstone: submitted, then compared against sacct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Pages: /day2/job-arrays/ · /day2/capstone/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300" b="1">
                <a:latin typeface="Source Sans 3"/>
              </a:rPr>
              <a:t>Extra, if you are ahead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Write both array files from scratch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Merge the results into one CSV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Distill a Slurm skill for Claude — /day2/slurm-with-claude/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GPUs — /day2/gpus/</a:t>
            </a: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Run all 992 filings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300" b="0">
                <a:latin typeface="Source Sans 3"/>
              </a:rPr>
              <a:t>All bonus. Nobody is behind for skipping these.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315968"/>
            <a:ext cx="85222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5F6775"/>
                </a:solidFill>
                <a:latin typeface="Source Sans 3"/>
              </a:rPr>
              <a:t>Experts: do not just leave. The bonus pages are where the Yen-specific tooling lives — quotas, permissions, user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